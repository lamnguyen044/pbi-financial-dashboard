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F2"/>
    <a:srgbClr val="0A0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2" autoAdjust="0"/>
  </p:normalViewPr>
  <p:slideViewPr>
    <p:cSldViewPr snapToGrid="0">
      <p:cViewPr>
        <p:scale>
          <a:sx n="100" d="100"/>
          <a:sy n="100" d="100"/>
        </p:scale>
        <p:origin x="9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49C11-B697-4D05-BD3B-5B978898D05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53D9E-424B-4818-B755-3372979A0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3D9E-424B-4818-B755-3372979A05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7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95D2-0DBA-361F-A226-9E99DFDC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A58B0-CACA-D30C-CC4F-0EA6C46E7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D596B-9604-6610-CB67-A1B1667F3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136CC-F9F9-EC02-2BEC-9C3998F71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3D9E-424B-4818-B755-3372979A05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7EA4-1746-2363-3EFE-671F21B8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AA49D-8757-2766-0FAC-409539FE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09D8D-0EEB-62AE-045E-8A5C4172C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25068-685F-0DDA-E42E-83B5D7880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3D9E-424B-4818-B755-3372979A05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7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8685-5CF4-10F7-0AEE-4A696396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CD912-1E06-23DE-C392-435A7C3F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98E87-296E-00A5-578D-20805FBFE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79C2F-B7C1-F518-C2CD-D5BAE193B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3D9E-424B-4818-B755-3372979A05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4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6C93-7057-B661-6A4E-965E7876D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155B3-66C3-DD2A-A8F0-725B41FF2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BCBC3-BAE2-C8AB-C666-109DBC2E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ABF7A-4A8B-1C39-EEAA-811A8F21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93843-83B0-FFCD-C98F-0D4BB496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5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F343-7674-A6F3-B992-441A8DB4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682AD-7CEE-1BE3-4969-A8F83B500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D996-E002-161F-F6DF-62C3A260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656F-24AD-22C4-F7FC-ACF4F45D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E27DC-A7A1-9DEE-6061-8F4C4379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8213-1802-9DDC-4F52-E4548E6F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0831-0443-C739-A429-129159615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E745-142C-F481-7BEA-9E48E1E9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6C52B-1473-B864-ADCF-3F749C79A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EBEE-3DD9-26C2-1EA9-EF268058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CB5C-538D-CB6D-6AEC-C149E3B5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D6882-A2E6-EF1B-F170-7FF4FF9ED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F9011-7122-2B92-CF79-2990A7F7F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2032E-8A3F-1342-34B1-E903DF615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B4E89-A0C7-5FD1-20C1-0EBF456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A552A-5D0A-86C3-FDCC-A12F94CB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7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4D94-4A32-1C75-EF26-6C9DB16F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86F28-BFDE-63E9-D598-9B51C2406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75C4B-649C-DD72-8711-6FC089416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5E5C8-6610-3917-421E-13DA72E57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83A24-0429-F9D6-6C3A-35C33F164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ECD41-A3DA-7B56-C509-00777085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DFFA9-9DC7-A386-BD71-84EAED34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2D2A8-DF39-A722-540F-73188C10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9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7FD3-12C2-8CA1-0D34-6C57EA13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7CCFD-2DFE-08D4-CC6A-89BFB6FF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9C724-1E31-8B84-1F35-47A91E20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3F31D-D45B-C51B-0BEE-C558F797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38C08-8696-2897-E999-5665FCF7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2ED31-0D6E-E50C-E574-C5238B31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D329D-3B20-FC32-7168-2CABBF10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6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5512-B5CF-55EA-F160-8A9DA7B5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5D33-064F-64E4-D92B-1EAA31299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53AA0-C1DE-751D-FA91-79DAE0466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AE45C-E7AD-E142-020D-2ABA3E41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AC225-3197-D528-A6F7-166071F1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40053-CADF-FB6D-19D0-9A0061BA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6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83FE-842F-79B0-B272-35CD6033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DAA4A-EC64-26BF-C759-A75203AB8D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8CE88-CB58-C0B3-FEA4-69E95153F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2B2BA-236B-C01C-5F4D-3A43731C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3BF9A-BE44-C234-24DC-23BC860C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EC5B0-C97F-4784-74EE-2B7B8BAE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3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ADB0-6D2E-2307-E210-0435BA22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49E84-D886-7AC2-F131-9CBC75074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0465-7465-7558-B231-E5D9F4D2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B354B-2B0C-52E8-EB26-87A08FD1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E9877-7DEA-2B3E-842B-212DD644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6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7A136-D146-51B2-65F7-57A91C20B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1546B-9EFE-57C5-C8D5-49B5AEC14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9B3F-266D-3B02-C4AF-F7506C85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85B69-66F4-3862-1FFE-171F5911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6BC4-2D22-BDC9-090F-6F41BDB4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5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4650F-10B7-8F65-8BF1-40A913DDE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775D7-48D3-DF00-A586-27695DFF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45382-D235-5F91-70F7-747B5ECA6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C1168-97DE-47B7-8625-2FC57C615C3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4EBDF-61E4-A97E-D7D8-019745448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41E1-A0E0-E227-8401-3A7FBE0C8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A64A0-7B56-4889-9E85-FD058D1BF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5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880489-55C0-B4DF-D4A8-40B547DEE5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908C3-30AB-8FE8-B816-330CADAE4B4F}"/>
              </a:ext>
            </a:extLst>
          </p:cNvPr>
          <p:cNvSpPr/>
          <p:nvPr/>
        </p:nvSpPr>
        <p:spPr>
          <a:xfrm>
            <a:off x="0" y="0"/>
            <a:ext cx="1745673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29C999-FBCF-E107-1D3B-5F8521CD236C}"/>
              </a:ext>
            </a:extLst>
          </p:cNvPr>
          <p:cNvSpPr/>
          <p:nvPr/>
        </p:nvSpPr>
        <p:spPr>
          <a:xfrm>
            <a:off x="1855212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DDD0F3-2652-063C-2142-6EF3F5D23EE8}"/>
              </a:ext>
            </a:extLst>
          </p:cNvPr>
          <p:cNvSpPr/>
          <p:nvPr/>
        </p:nvSpPr>
        <p:spPr>
          <a:xfrm>
            <a:off x="3922678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4D5490-C5FC-19DC-A202-12124DAE98EC}"/>
              </a:ext>
            </a:extLst>
          </p:cNvPr>
          <p:cNvSpPr/>
          <p:nvPr/>
        </p:nvSpPr>
        <p:spPr>
          <a:xfrm>
            <a:off x="5990144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877749-20F7-99A6-6B83-8810AA012527}"/>
              </a:ext>
            </a:extLst>
          </p:cNvPr>
          <p:cNvSpPr/>
          <p:nvPr/>
        </p:nvSpPr>
        <p:spPr>
          <a:xfrm>
            <a:off x="8057610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58AA96-AEED-86A6-D6F0-D477A8B78711}"/>
              </a:ext>
            </a:extLst>
          </p:cNvPr>
          <p:cNvSpPr/>
          <p:nvPr/>
        </p:nvSpPr>
        <p:spPr>
          <a:xfrm>
            <a:off x="10125075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1656DB-AA0B-0CC0-ABBA-C7BBDADF9A0C}"/>
              </a:ext>
            </a:extLst>
          </p:cNvPr>
          <p:cNvSpPr/>
          <p:nvPr/>
        </p:nvSpPr>
        <p:spPr>
          <a:xfrm>
            <a:off x="1854258" y="1765530"/>
            <a:ext cx="4387216" cy="2455488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7B1DAA-FAD1-C43A-DA0F-D6A46CF0C307}"/>
              </a:ext>
            </a:extLst>
          </p:cNvPr>
          <p:cNvSpPr/>
          <p:nvPr/>
        </p:nvSpPr>
        <p:spPr>
          <a:xfrm>
            <a:off x="1854259" y="4381797"/>
            <a:ext cx="4387215" cy="2364421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890B10-3F9A-770D-859B-EA8D738012AE}"/>
              </a:ext>
            </a:extLst>
          </p:cNvPr>
          <p:cNvSpPr/>
          <p:nvPr/>
        </p:nvSpPr>
        <p:spPr>
          <a:xfrm>
            <a:off x="6350060" y="1765530"/>
            <a:ext cx="5680016" cy="4980689"/>
          </a:xfrm>
          <a:prstGeom prst="roundRect">
            <a:avLst>
              <a:gd name="adj" fmla="val 1261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8CC60E-336C-4D23-75D1-C9A37A540FD6}"/>
              </a:ext>
            </a:extLst>
          </p:cNvPr>
          <p:cNvSpPr txBox="1"/>
          <p:nvPr/>
        </p:nvSpPr>
        <p:spPr>
          <a:xfrm>
            <a:off x="1854258" y="97935"/>
            <a:ext cx="4387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Tracking performance against plan</a:t>
            </a:r>
          </a:p>
          <a:p>
            <a:r>
              <a:rPr lang="en-US" b="1" dirty="0"/>
              <a:t>Income Statement &amp; Budget Variance</a:t>
            </a:r>
          </a:p>
        </p:txBody>
      </p:sp>
    </p:spTree>
    <p:extLst>
      <p:ext uri="{BB962C8B-B14F-4D97-AF65-F5344CB8AC3E}">
        <p14:creationId xmlns:p14="http://schemas.microsoft.com/office/powerpoint/2010/main" val="116124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1DB4-0542-5635-0E28-FAAF3F16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5B04F8-9CA9-142C-1D9D-F8EC520805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6A58E6-3D8E-989A-EF91-F54C74ABE3DF}"/>
              </a:ext>
            </a:extLst>
          </p:cNvPr>
          <p:cNvSpPr txBox="1"/>
          <p:nvPr/>
        </p:nvSpPr>
        <p:spPr>
          <a:xfrm>
            <a:off x="1854257" y="166278"/>
            <a:ext cx="4387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Where the result comes from</a:t>
            </a:r>
          </a:p>
          <a:p>
            <a:r>
              <a:rPr lang="en-US" b="1" dirty="0"/>
              <a:t>Financial Details &amp; Territory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264C84-8553-C8E4-D460-267102B4BA10}"/>
              </a:ext>
            </a:extLst>
          </p:cNvPr>
          <p:cNvSpPr/>
          <p:nvPr/>
        </p:nvSpPr>
        <p:spPr>
          <a:xfrm>
            <a:off x="1854258" y="689498"/>
            <a:ext cx="4599880" cy="2053703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66D337-3D51-D1AA-A542-E7566039C322}"/>
              </a:ext>
            </a:extLst>
          </p:cNvPr>
          <p:cNvSpPr/>
          <p:nvPr/>
        </p:nvSpPr>
        <p:spPr>
          <a:xfrm>
            <a:off x="1854256" y="2832333"/>
            <a:ext cx="4599881" cy="1882832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D5D27F-4485-62BF-0099-1A1140087C97}"/>
              </a:ext>
            </a:extLst>
          </p:cNvPr>
          <p:cNvSpPr/>
          <p:nvPr/>
        </p:nvSpPr>
        <p:spPr>
          <a:xfrm>
            <a:off x="1854257" y="4804297"/>
            <a:ext cx="4599881" cy="1882832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F09581-8106-7B08-A664-D580A5AEECA6}"/>
              </a:ext>
            </a:extLst>
          </p:cNvPr>
          <p:cNvSpPr/>
          <p:nvPr/>
        </p:nvSpPr>
        <p:spPr>
          <a:xfrm>
            <a:off x="6634303" y="689499"/>
            <a:ext cx="5391442" cy="3082401"/>
          </a:xfrm>
          <a:prstGeom prst="roundRect">
            <a:avLst>
              <a:gd name="adj" fmla="val 179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6C4FA-94CC-CAB4-C1B1-CA8F1AC0E92A}"/>
              </a:ext>
            </a:extLst>
          </p:cNvPr>
          <p:cNvSpPr/>
          <p:nvPr/>
        </p:nvSpPr>
        <p:spPr>
          <a:xfrm>
            <a:off x="0" y="0"/>
            <a:ext cx="1745673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238058-0D4E-E031-C628-4E1F34BFE323}"/>
              </a:ext>
            </a:extLst>
          </p:cNvPr>
          <p:cNvSpPr/>
          <p:nvPr/>
        </p:nvSpPr>
        <p:spPr>
          <a:xfrm>
            <a:off x="6634303" y="3857626"/>
            <a:ext cx="5391442" cy="2829504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3F5C-07EA-EE76-1753-B0DE990D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15F42E-D04E-743C-0AF7-F65330A69E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D24654A-EEAC-C96F-F3EB-B18DCBF9FC47}"/>
              </a:ext>
            </a:extLst>
          </p:cNvPr>
          <p:cNvSpPr/>
          <p:nvPr/>
        </p:nvSpPr>
        <p:spPr>
          <a:xfrm>
            <a:off x="1854258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E61492-A39A-CC3D-57EE-06724D43E469}"/>
              </a:ext>
            </a:extLst>
          </p:cNvPr>
          <p:cNvSpPr/>
          <p:nvPr/>
        </p:nvSpPr>
        <p:spPr>
          <a:xfrm>
            <a:off x="1854258" y="1698298"/>
            <a:ext cx="4454178" cy="2252979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986A99-70D3-C198-6E56-F11EFED37678}"/>
              </a:ext>
            </a:extLst>
          </p:cNvPr>
          <p:cNvSpPr/>
          <p:nvPr/>
        </p:nvSpPr>
        <p:spPr>
          <a:xfrm>
            <a:off x="6446333" y="1698298"/>
            <a:ext cx="5583743" cy="5047921"/>
          </a:xfrm>
          <a:prstGeom prst="roundRect">
            <a:avLst>
              <a:gd name="adj" fmla="val 1064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685282-4425-622C-55D2-2B08CA75FC2B}"/>
              </a:ext>
            </a:extLst>
          </p:cNvPr>
          <p:cNvSpPr txBox="1"/>
          <p:nvPr/>
        </p:nvSpPr>
        <p:spPr>
          <a:xfrm>
            <a:off x="1854258" y="111781"/>
            <a:ext cx="4387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Financial position at period end</a:t>
            </a:r>
          </a:p>
          <a:p>
            <a:r>
              <a:rPr lang="en-US" b="1" dirty="0"/>
              <a:t>Balance Sheet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BE0C35-4FA8-9418-38C4-B8D6E76BEDED}"/>
              </a:ext>
            </a:extLst>
          </p:cNvPr>
          <p:cNvSpPr/>
          <p:nvPr/>
        </p:nvSpPr>
        <p:spPr>
          <a:xfrm>
            <a:off x="4147127" y="4078442"/>
            <a:ext cx="2161309" cy="2667778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FFD57B-F8A3-53AA-84D9-F5D68A471D9D}"/>
              </a:ext>
            </a:extLst>
          </p:cNvPr>
          <p:cNvSpPr/>
          <p:nvPr/>
        </p:nvSpPr>
        <p:spPr>
          <a:xfrm>
            <a:off x="1854258" y="4078441"/>
            <a:ext cx="2161309" cy="2652395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2FC58-B7A7-F061-0B06-A13C64D7E556}"/>
              </a:ext>
            </a:extLst>
          </p:cNvPr>
          <p:cNvSpPr/>
          <p:nvPr/>
        </p:nvSpPr>
        <p:spPr>
          <a:xfrm>
            <a:off x="0" y="0"/>
            <a:ext cx="1745673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6773D9-091E-79DC-A43E-DBEC1C0D9DC3}"/>
              </a:ext>
            </a:extLst>
          </p:cNvPr>
          <p:cNvSpPr/>
          <p:nvPr/>
        </p:nvSpPr>
        <p:spPr>
          <a:xfrm>
            <a:off x="3921962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C112A7-CA4D-2964-5FA6-349CFDF21C32}"/>
              </a:ext>
            </a:extLst>
          </p:cNvPr>
          <p:cNvSpPr/>
          <p:nvPr/>
        </p:nvSpPr>
        <p:spPr>
          <a:xfrm>
            <a:off x="5989666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F4D9F5-7A4D-BF25-9EA3-0CA30215A789}"/>
              </a:ext>
            </a:extLst>
          </p:cNvPr>
          <p:cNvSpPr/>
          <p:nvPr/>
        </p:nvSpPr>
        <p:spPr>
          <a:xfrm>
            <a:off x="8057370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0A01F6-65D0-8DF6-3FD7-8BAEA4154D9B}"/>
              </a:ext>
            </a:extLst>
          </p:cNvPr>
          <p:cNvSpPr/>
          <p:nvPr/>
        </p:nvSpPr>
        <p:spPr>
          <a:xfrm>
            <a:off x="10125075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7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AD45-0F2E-AC91-41EE-D83628FF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148262-CA2E-170B-2B28-4894E23CC2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2E98E9-B5BA-A810-7D6D-8B10E372C284}"/>
              </a:ext>
            </a:extLst>
          </p:cNvPr>
          <p:cNvSpPr/>
          <p:nvPr/>
        </p:nvSpPr>
        <p:spPr>
          <a:xfrm>
            <a:off x="1854258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4B2930-4914-9F93-AB80-C5DA5A4E81BB}"/>
              </a:ext>
            </a:extLst>
          </p:cNvPr>
          <p:cNvSpPr/>
          <p:nvPr/>
        </p:nvSpPr>
        <p:spPr>
          <a:xfrm>
            <a:off x="3921962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78F463-DB63-DA81-1200-C64231DCAE04}"/>
              </a:ext>
            </a:extLst>
          </p:cNvPr>
          <p:cNvSpPr/>
          <p:nvPr/>
        </p:nvSpPr>
        <p:spPr>
          <a:xfrm>
            <a:off x="5989666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C067E0-BAB6-F535-C03D-D03A6617DE04}"/>
              </a:ext>
            </a:extLst>
          </p:cNvPr>
          <p:cNvSpPr/>
          <p:nvPr/>
        </p:nvSpPr>
        <p:spPr>
          <a:xfrm>
            <a:off x="8057370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4E41AF-E1AF-0D50-A71D-4DE624B798D6}"/>
              </a:ext>
            </a:extLst>
          </p:cNvPr>
          <p:cNvSpPr/>
          <p:nvPr/>
        </p:nvSpPr>
        <p:spPr>
          <a:xfrm>
            <a:off x="10125075" y="635001"/>
            <a:ext cx="1905001" cy="920750"/>
          </a:xfrm>
          <a:prstGeom prst="roundRect">
            <a:avLst>
              <a:gd name="adj" fmla="val 7093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EFCC4F-0124-90A2-50E9-43ABE182D95F}"/>
              </a:ext>
            </a:extLst>
          </p:cNvPr>
          <p:cNvSpPr txBox="1"/>
          <p:nvPr/>
        </p:nvSpPr>
        <p:spPr>
          <a:xfrm>
            <a:off x="1854259" y="111781"/>
            <a:ext cx="4387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>
                    <a:lumMod val="65000"/>
                  </a:schemeClr>
                </a:solidFill>
              </a:rPr>
              <a:t>Is the business generating cash?</a:t>
            </a:r>
          </a:p>
          <a:p>
            <a:r>
              <a:rPr lang="en-US" b="1" dirty="0"/>
              <a:t>Cash Flow Statement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523078-D943-08D9-9FBB-9D7C0D3AE5DF}"/>
              </a:ext>
            </a:extLst>
          </p:cNvPr>
          <p:cNvSpPr/>
          <p:nvPr/>
        </p:nvSpPr>
        <p:spPr>
          <a:xfrm>
            <a:off x="1854258" y="1698298"/>
            <a:ext cx="4546544" cy="2464724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DF90DD-B918-A325-8157-A85E5C049DF3}"/>
              </a:ext>
            </a:extLst>
          </p:cNvPr>
          <p:cNvSpPr/>
          <p:nvPr/>
        </p:nvSpPr>
        <p:spPr>
          <a:xfrm>
            <a:off x="1838124" y="4255307"/>
            <a:ext cx="4562678" cy="2464724"/>
          </a:xfrm>
          <a:prstGeom prst="roundRect">
            <a:avLst>
              <a:gd name="adj" fmla="val 2358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A9E352B-21F8-0E81-5BB2-1A896E1A1323}"/>
              </a:ext>
            </a:extLst>
          </p:cNvPr>
          <p:cNvSpPr/>
          <p:nvPr/>
        </p:nvSpPr>
        <p:spPr>
          <a:xfrm>
            <a:off x="6562726" y="1698297"/>
            <a:ext cx="5467350" cy="5021733"/>
          </a:xfrm>
          <a:prstGeom prst="roundRect">
            <a:avLst>
              <a:gd name="adj" fmla="val 1077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7A25A-1B61-E84E-5975-6ABFE1937BFC}"/>
              </a:ext>
            </a:extLst>
          </p:cNvPr>
          <p:cNvSpPr/>
          <p:nvPr/>
        </p:nvSpPr>
        <p:spPr>
          <a:xfrm>
            <a:off x="0" y="0"/>
            <a:ext cx="1745673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3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38</Words>
  <Application>Microsoft Office PowerPoint</Application>
  <PresentationFormat>Widescreen</PresentationFormat>
  <Paragraphs>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Tue Lam 20261207M</dc:creator>
  <cp:lastModifiedBy>Nguyen Tue Lam 20261207M</cp:lastModifiedBy>
  <cp:revision>26</cp:revision>
  <dcterms:created xsi:type="dcterms:W3CDTF">2026-10-17T14:25:00Z</dcterms:created>
  <dcterms:modified xsi:type="dcterms:W3CDTF">2026-10-18T04:15:16Z</dcterms:modified>
</cp:coreProperties>
</file>